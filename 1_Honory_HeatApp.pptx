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onio" charset="1" panose="02000503000000000000"/>
      <p:regular r:id="rId21"/>
    </p:embeddedFont>
    <p:embeddedFont>
      <p:font typeface="Arimo" charset="1" panose="020B0604020202020204"/>
      <p:regular r:id="rId22"/>
    </p:embeddedFont>
    <p:embeddedFont>
      <p:font typeface="Public Sans 1" charset="1" panose="00000000000000000000"/>
      <p:regular r:id="rId23"/>
    </p:embeddedFont>
    <p:embeddedFont>
      <p:font typeface="Oswald Bold" charset="1" panose="00000800000000000000"/>
      <p:regular r:id="rId24"/>
    </p:embeddedFont>
    <p:embeddedFont>
      <p:font typeface="Aileron Bold" charset="1" panose="00000800000000000000"/>
      <p:regular r:id="rId28"/>
    </p:embeddedFont>
    <p:embeddedFont>
      <p:font typeface="Public Sans 2 Bold" charset="1" panose="00000000000000000000"/>
      <p:regular r:id="rId29"/>
    </p:embeddedFont>
    <p:embeddedFont>
      <p:font typeface="Public Sans 2" charset="1" panose="00000000000000000000"/>
      <p:regular r:id="rId30"/>
    </p:embeddedFont>
    <p:embeddedFont>
      <p:font typeface="Gotham Condensed Bold" charset="1" panose="00000000000000000000"/>
      <p:regular r:id="rId32"/>
    </p:embeddedFont>
    <p:embeddedFont>
      <p:font typeface="Gotham Condensed Heavy" charset="1" panose="00000000000000000000"/>
      <p:regular r:id="rId33"/>
    </p:embeddedFont>
    <p:embeddedFont>
      <p:font typeface="Inter Semi-Bold" charset="1" panose="02000503000000020004"/>
      <p:regular r:id="rId34"/>
    </p:embeddedFont>
    <p:embeddedFont>
      <p:font typeface="Roboto Bold" charset="1" panose="02000000000000000000"/>
      <p:regular r:id="rId36"/>
    </p:embeddedFont>
    <p:embeddedFont>
      <p:font typeface="Roboto" charset="1" panose="02000000000000000000"/>
      <p:regular r:id="rId37"/>
    </p:embeddedFont>
    <p:embeddedFont>
      <p:font typeface="Roboto Condensed Bold" charset="1" panose="02000000000000000000"/>
      <p:regular r:id="rId38"/>
    </p:embeddedFont>
    <p:embeddedFont>
      <p:font typeface="Public Sans 1 Medium" charset="1" panose="00000000000000000000"/>
      <p:regular r:id="rId39"/>
    </p:embeddedFont>
    <p:embeddedFont>
      <p:font typeface="Oswald" charset="1" panose="00000500000000000000"/>
      <p:regular r:id="rId40"/>
    </p:embeddedFont>
    <p:embeddedFont>
      <p:font typeface="Antonio Ultra-Bold" charset="1" panose="02000803000000000000"/>
      <p:regular r:id="rId42"/>
    </p:embeddedFont>
    <p:embeddedFont>
      <p:font typeface="Roboto Condensed" charset="1" panose="020000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5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6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7.xml" Type="http://schemas.openxmlformats.org/officeDocument/2006/relationships/notes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0:00–0:20 — Powitanie i krótki wstęp do problemu oraz celu prezentacji.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0:20–0:45 — Podkreślenie zagrożeń zdrowotnych upału i trendów zwiększających ryzyko, szczególnie dla seniorów.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0:45–1:00 — Wyjaśnienie skali zmian klimatycznych i konieczności adaptacji miasta.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2:30–2:45 — Podkreślenie kompleksowości i integracji otwartych danych.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1:25–1:55 — Przedstawienie funkcjonalności aplikacji i jej unikalnych cech.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1:55–2:30 — Omówienie technicznej strony pomiarów i modelu oceny upału; cień wieży 310 m sięga ok. 5,7 km o zachodzie.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1:00–1:25 — Zaznaczenie luki w obecnych systemach nawigacji wobec zachowań użytkowników.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VAHYWH_vVcc.mp4" Type="http://schemas.openxmlformats.org/officeDocument/2006/relationships/video"/><Relationship Id="rId4" Target="../media/VAHYWH_vVcc.mp4" Type="http://schemas.microsoft.com/office/2007/relationships/media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15" Target="../media/image16.png" Type="http://schemas.openxmlformats.org/officeDocument/2006/relationships/image"/><Relationship Id="rId16" Target="../media/image1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png" Type="http://schemas.openxmlformats.org/officeDocument/2006/relationships/image"/><Relationship Id="rId14" Target="../media/image37.png" Type="http://schemas.openxmlformats.org/officeDocument/2006/relationships/image"/><Relationship Id="rId15" Target="../media/image38.png" Type="http://schemas.openxmlformats.org/officeDocument/2006/relationships/image"/><Relationship Id="rId16" Target="../media/image39.png" Type="http://schemas.openxmlformats.org/officeDocument/2006/relationships/image"/><Relationship Id="rId17" Target="../media/image40.png" Type="http://schemas.openxmlformats.org/officeDocument/2006/relationships/image"/><Relationship Id="rId18" Target="../media/image41.png" Type="http://schemas.openxmlformats.org/officeDocument/2006/relationships/image"/><Relationship Id="rId19" Target="../media/image42.png" Type="http://schemas.openxmlformats.org/officeDocument/2006/relationships/image"/><Relationship Id="rId2" Target="../media/image25.png" Type="http://schemas.openxmlformats.org/officeDocument/2006/relationships/image"/><Relationship Id="rId20" Target="../media/image43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17" Target="../media/image62.png" Type="http://schemas.openxmlformats.org/officeDocument/2006/relationships/image"/><Relationship Id="rId18" Target="../media/image63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34500" y="0"/>
            <a:ext cx="8953500" cy="10287000"/>
          </a:xfrm>
          <a:custGeom>
            <a:avLst/>
            <a:gdLst/>
            <a:ahLst/>
            <a:cxnLst/>
            <a:rect r="r" b="b" t="t" l="l"/>
            <a:pathLst>
              <a:path h="10287000" w="8953500">
                <a:moveTo>
                  <a:pt x="0" y="0"/>
                </a:moveTo>
                <a:lnTo>
                  <a:pt x="8953500" y="0"/>
                </a:lnTo>
                <a:lnTo>
                  <a:pt x="8953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" r="0" b="-21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14191E">
                    <a:alpha val="100000"/>
                  </a:srgbClr>
                </a:gs>
                <a:gs pos="45000">
                  <a:srgbClr val="14191E">
                    <a:alpha val="94000"/>
                  </a:srgbClr>
                </a:gs>
                <a:gs pos="100000">
                  <a:srgbClr val="E4572E">
                    <a:alpha val="1800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96935" y="952500"/>
            <a:ext cx="8452888" cy="5468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32"/>
              </a:lnSpc>
            </a:pPr>
            <a:r>
              <a:rPr lang="en-US" sz="6640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Śródmieście 2076: zaplanuj drogę w przestrzeni i w czasie, żeby upał nie zrobił ci krzywdy.</a:t>
            </a:r>
          </a:p>
          <a:p>
            <a:pPr algn="l">
              <a:lnSpc>
                <a:spcPts val="8632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38200" y="8534400"/>
            <a:ext cx="6667500" cy="1019175"/>
            <a:chOff x="0" y="0"/>
            <a:chExt cx="8890000" cy="13589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8890000" cy="1358900"/>
              <a:chOff x="0" y="0"/>
              <a:chExt cx="8890000" cy="13589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890000" cy="1358900"/>
              </a:xfrm>
              <a:custGeom>
                <a:avLst/>
                <a:gdLst/>
                <a:ahLst/>
                <a:cxnLst/>
                <a:rect r="r" b="b" t="t" l="l"/>
                <a:pathLst>
                  <a:path h="1358900" w="8890000">
                    <a:moveTo>
                      <a:pt x="0" y="0"/>
                    </a:moveTo>
                    <a:lnTo>
                      <a:pt x="8890000" y="0"/>
                    </a:lnTo>
                    <a:lnTo>
                      <a:pt x="8890000" y="1358900"/>
                    </a:lnTo>
                    <a:lnTo>
                      <a:pt x="0" y="1358900"/>
                    </a:lnTo>
                    <a:close/>
                  </a:path>
                </a:pathLst>
              </a:custGeom>
              <a:ln w="19050" cap="sq">
                <a:solidFill>
                  <a:srgbClr val="FFFFFF"/>
                </a:solidFill>
                <a:prstDash val="dash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8890000" cy="1397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  <a:r>
                  <a:rPr lang="en-US" sz="1200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,</a:t>
                </a: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4800" y="285750"/>
              <a:ext cx="8255000" cy="77597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>
                  <a:solidFill>
                    <a:srgbClr val="FFFFFF"/>
                  </a:solidFill>
                  <a:latin typeface="Public Sans 1"/>
                  <a:ea typeface="Public Sans 1"/>
                  <a:cs typeface="Public Sans 1"/>
                  <a:sym typeface="Public Sans 1"/>
                </a:rPr>
                <a:t>Honory - Tadeusz Furykiewicz, Stanisław Sender, Adam Zienkowicz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6973550" y="9658350"/>
            <a:ext cx="47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67176"/>
                </a:solidFill>
                <a:latin typeface="Public Sans 1"/>
                <a:ea typeface="Public Sans 1"/>
                <a:cs typeface="Public Sans 1"/>
                <a:sym typeface="Public Sans 1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9837" t="0" r="9837" b="0"/>
          <a:stretch>
            <a:fillRect/>
          </a:stretch>
        </p:blipFill>
        <p:spPr>
          <a:xfrm flipH="false" flipV="false" rot="0">
            <a:off x="2615426" y="383240"/>
            <a:ext cx="13057148" cy="7344646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104397" y="8315483"/>
            <a:ext cx="9562505" cy="942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  <a:spcBef>
                <a:spcPct val="0"/>
              </a:spcBef>
            </a:pPr>
            <a:r>
              <a:rPr lang="en-US" b="true" sz="6206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Plac Konstytucji - lipiec 2076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8200" y="666750"/>
            <a:ext cx="14097000" cy="135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20282D"/>
                </a:solidFill>
                <a:latin typeface="Oswald Bold"/>
                <a:ea typeface="Oswald Bold"/>
                <a:cs typeface="Oswald Bold"/>
                <a:sym typeface="Oswald Bold"/>
              </a:rPr>
              <a:t>Upał w mieście to problem zdrowotny,</a:t>
            </a:r>
          </a:p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20282D"/>
                </a:solidFill>
                <a:latin typeface="Oswald Bold"/>
                <a:ea typeface="Oswald Bold"/>
                <a:cs typeface="Oswald Bold"/>
                <a:sym typeface="Oswald Bold"/>
              </a:rPr>
              <a:t>nie tylko pogodowy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47750" y="3000375"/>
            <a:ext cx="3714750" cy="104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B23B14"/>
                </a:solidFill>
                <a:latin typeface="Oswald Bold"/>
                <a:ea typeface="Oswald Bold"/>
                <a:cs typeface="Oswald Bold"/>
                <a:sym typeface="Oswald Bold"/>
              </a:rPr>
              <a:t>1 780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7750" y="3962400"/>
            <a:ext cx="371475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zgonów w Polsce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latem 2024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81625" y="3000375"/>
            <a:ext cx="3714750" cy="104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B23B14"/>
                </a:solidFill>
                <a:latin typeface="Oswald Bold"/>
                <a:ea typeface="Oswald Bold"/>
                <a:cs typeface="Oswald Bold"/>
                <a:sym typeface="Oswald Bold"/>
              </a:rPr>
              <a:t>62 775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81625" y="3962400"/>
            <a:ext cx="371475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zgonów w Europie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latem 2024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15500" y="3000375"/>
            <a:ext cx="3429000" cy="104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56"/>
              </a:lnSpc>
            </a:pPr>
            <a:r>
              <a:rPr lang="en-US" sz="7800" b="true">
                <a:solidFill>
                  <a:srgbClr val="B23B14"/>
                </a:solidFill>
                <a:latin typeface="Oswald Bold"/>
                <a:ea typeface="Oswald Bold"/>
                <a:cs typeface="Oswald Bold"/>
                <a:sym typeface="Oswald Bold"/>
              </a:rPr>
              <a:t>323%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5500" y="3962400"/>
            <a:ext cx="34290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wyższe ryzyko</a:t>
            </a:r>
          </a:p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u osób 75+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11250" y="2962275"/>
            <a:ext cx="3333750" cy="826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73"/>
              </a:lnSpc>
            </a:pPr>
            <a:r>
              <a:rPr lang="en-US" sz="6150" b="true">
                <a:solidFill>
                  <a:srgbClr val="B23B14"/>
                </a:solidFill>
                <a:latin typeface="Oswald Bold"/>
                <a:ea typeface="Oswald Bold"/>
                <a:cs typeface="Oswald Bold"/>
                <a:sym typeface="Oswald Bold"/>
              </a:rPr>
              <a:t>22 dni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11250" y="3886200"/>
            <a:ext cx="333375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≥30°C w Warszawie; dawniej 10, norma stulecia ok. 17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6448425"/>
            <a:ext cx="4953000" cy="929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8"/>
              </a:lnSpc>
            </a:pPr>
            <a:r>
              <a:rPr lang="en-US" sz="6900" b="true">
                <a:solidFill>
                  <a:srgbClr val="E4572E"/>
                </a:solidFill>
                <a:latin typeface="Oswald Bold"/>
                <a:ea typeface="Oswald Bold"/>
                <a:cs typeface="Oswald Bold"/>
                <a:sym typeface="Oswald Bold"/>
              </a:rPr>
              <a:t>do +6°C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7400925"/>
            <a:ext cx="5619750" cy="669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20282D"/>
                </a:solidFill>
                <a:latin typeface="Public Sans 1"/>
                <a:ea typeface="Public Sans 1"/>
                <a:cs typeface="Public Sans 1"/>
                <a:sym typeface="Public Sans 1"/>
              </a:rPr>
              <a:t>cieplej w Śródmieściu niż poza miastem w najgorętsze dni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76619" y="6394895"/>
            <a:ext cx="8682681" cy="140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6"/>
              </a:lnSpc>
            </a:pPr>
            <a:r>
              <a:rPr lang="en-US" sz="5349" b="true">
                <a:solidFill>
                  <a:srgbClr val="1E7B80"/>
                </a:solidFill>
                <a:latin typeface="Oswald Bold"/>
                <a:ea typeface="Oswald Bold"/>
                <a:cs typeface="Oswald Bold"/>
                <a:sym typeface="Oswald Bold"/>
              </a:rPr>
              <a:t>To ryzyko ma adres, godzinę</a:t>
            </a:r>
          </a:p>
          <a:p>
            <a:pPr algn="l">
              <a:lnSpc>
                <a:spcPts val="5456"/>
              </a:lnSpc>
            </a:pPr>
            <a:r>
              <a:rPr lang="en-US" sz="5349" b="true">
                <a:solidFill>
                  <a:srgbClr val="1E7B80"/>
                </a:solidFill>
                <a:latin typeface="Oswald Bold"/>
                <a:ea typeface="Oswald Bold"/>
                <a:cs typeface="Oswald Bold"/>
                <a:sym typeface="Oswald Bold"/>
              </a:rPr>
              <a:t>i konkretną trasę.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73550" y="9658350"/>
            <a:ext cx="47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67176"/>
                </a:solidFill>
                <a:latin typeface="Public Sans 1"/>
                <a:ea typeface="Public Sans 1"/>
                <a:cs typeface="Public Sans 1"/>
                <a:sym typeface="Public Sans 1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38200" y="9610725"/>
            <a:ext cx="14954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67176"/>
                </a:solidFill>
                <a:latin typeface="Public Sans 1"/>
                <a:ea typeface="Public Sans 1"/>
                <a:cs typeface="Public Sans 1"/>
                <a:sym typeface="Public Sans 1"/>
              </a:rPr>
              <a:t>Janoš i in., Nature Medicine 2025; Klimatyczna Warszawa, raporty sezonowe 2024 i 2026 (Warszawa-Okęcie, IMGW-PIB).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4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73000" y="-1714500"/>
            <a:ext cx="7239000" cy="7239000"/>
            <a:chOff x="0" y="0"/>
            <a:chExt cx="9652000" cy="965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2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9652000">
                  <a:moveTo>
                    <a:pt x="4826000" y="0"/>
                  </a:moveTo>
                  <a:cubicBezTo>
                    <a:pt x="7491326" y="0"/>
                    <a:pt x="9652000" y="2160674"/>
                    <a:pt x="9652000" y="4826000"/>
                  </a:cubicBezTo>
                  <a:cubicBezTo>
                    <a:pt x="9652000" y="7491326"/>
                    <a:pt x="7491326" y="9652000"/>
                    <a:pt x="4826000" y="9652000"/>
                  </a:cubicBezTo>
                  <a:cubicBezTo>
                    <a:pt x="2160674" y="9652000"/>
                    <a:pt x="0" y="7491326"/>
                    <a:pt x="0" y="4826000"/>
                  </a:cubicBezTo>
                  <a:cubicBezTo>
                    <a:pt x="0" y="2160674"/>
                    <a:pt x="2160674" y="0"/>
                    <a:pt x="48260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E4572E">
                    <a:alpha val="80000"/>
                  </a:srgbClr>
                </a:gs>
                <a:gs pos="50000">
                  <a:srgbClr val="E4572E">
                    <a:alpha val="56000"/>
                  </a:srgbClr>
                </a:gs>
                <a:gs pos="100000">
                  <a:srgbClr val="14191E">
                    <a:alpha val="0"/>
                  </a:srgbClr>
                </a:gs>
              </a:gsLst>
              <a:path path="circle">
                <a:fillToRect l="50000" r="50000" t="50000" b="50000"/>
              </a:path>
            </a:grad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838200" y="933450"/>
            <a:ext cx="8096250" cy="273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7"/>
              </a:lnSpc>
            </a:pPr>
            <a:r>
              <a:rPr lang="en-US" sz="103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WARSZAWA</a:t>
            </a:r>
          </a:p>
          <a:p>
            <a:pPr algn="l">
              <a:lnSpc>
                <a:spcPts val="10557"/>
              </a:lnSpc>
            </a:pPr>
            <a:r>
              <a:rPr lang="en-US" sz="10350" b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2076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38200" y="4076700"/>
            <a:ext cx="14287500" cy="123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E4572E"/>
                </a:solidFill>
                <a:latin typeface="Oswald Bold"/>
                <a:ea typeface="Oswald Bold"/>
                <a:cs typeface="Oswald Bold"/>
                <a:sym typeface="Oswald Bold"/>
              </a:rPr>
              <a:t>28 czerwca 2026: 40,5°C — rekord Polski.</a:t>
            </a:r>
          </a:p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E4572E"/>
                </a:solidFill>
                <a:latin typeface="Oswald Bold"/>
                <a:ea typeface="Oswald Bold"/>
                <a:cs typeface="Oswald Bold"/>
                <a:sym typeface="Oswald Bold"/>
              </a:rPr>
              <a:t>W Warszawie 38,1°C — najwięcej w historii pomiarów.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38200" y="6629400"/>
            <a:ext cx="12858750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0">
                <a:solidFill>
                  <a:srgbClr val="FFFFFF"/>
                </a:solidFill>
                <a:latin typeface="Public Sans 1"/>
                <a:ea typeface="Public Sans 1"/>
                <a:cs typeface="Public Sans 1"/>
                <a:sym typeface="Public Sans 1"/>
              </a:rPr>
              <a:t>Ten dzień odtwarzamy w modelu. Do końca wieku Warszawa ogrzeje się o kolejne 3,5–5°C, więc taki dzień w 2076 r. będzie zwykłym latem.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73550" y="9658350"/>
            <a:ext cx="4762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67176"/>
                </a:solidFill>
                <a:latin typeface="Public Sans 1"/>
                <a:ea typeface="Public Sans 1"/>
                <a:cs typeface="Public Sans 1"/>
                <a:sym typeface="Public Sans 1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8200" y="9610725"/>
            <a:ext cx="149542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67176"/>
                </a:solidFill>
                <a:latin typeface="Public Sans 1"/>
                <a:ea typeface="Public Sans 1"/>
                <a:cs typeface="Public Sans 1"/>
                <a:sym typeface="Public Sans 1"/>
              </a:rPr>
              <a:t>Instytut Geofizyki PAN, podsumowanie lata 2026 (IMGW-PIB); Strategia adaptacji m.st. Warszawy.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1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8520" y="2183104"/>
            <a:ext cx="13310959" cy="6080006"/>
          </a:xfrm>
          <a:custGeom>
            <a:avLst/>
            <a:gdLst/>
            <a:ahLst/>
            <a:cxnLst/>
            <a:rect r="r" b="b" t="t" l="l"/>
            <a:pathLst>
              <a:path h="6080006" w="13310959">
                <a:moveTo>
                  <a:pt x="0" y="0"/>
                </a:moveTo>
                <a:lnTo>
                  <a:pt x="13310960" y="0"/>
                </a:lnTo>
                <a:lnTo>
                  <a:pt x="13310960" y="6080006"/>
                </a:lnTo>
                <a:lnTo>
                  <a:pt x="0" y="60800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809750"/>
            <a:chOff x="0" y="0"/>
            <a:chExt cx="24384000" cy="2413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14191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28583" y="401336"/>
            <a:ext cx="12151068" cy="79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3"/>
              </a:lnSpc>
            </a:pPr>
            <a:r>
              <a:rPr lang="en-US" sz="4666" b="true">
                <a:solidFill>
                  <a:srgbClr val="F4F4F4"/>
                </a:solidFill>
                <a:latin typeface="Oswald Bold"/>
                <a:ea typeface="Oswald Bold"/>
                <a:cs typeface="Oswald Bold"/>
                <a:sym typeface="Oswald Bold"/>
              </a:rPr>
              <a:t>Otwarte dane miasta i państwa w jednym modelu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531301" y="9666094"/>
            <a:ext cx="276547" cy="280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74"/>
              </a:lnSpc>
            </a:pPr>
            <a:r>
              <a:rPr lang="en-US" sz="1696" b="true">
                <a:solidFill>
                  <a:srgbClr val="59636B"/>
                </a:solidFill>
                <a:latin typeface="Aileron Bold"/>
                <a:ea typeface="Aileron Bold"/>
                <a:cs typeface="Aileron Bold"/>
                <a:sym typeface="Aileron Bold"/>
              </a:rPr>
              <a:t>07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66750" y="2095500"/>
            <a:ext cx="3253740" cy="3619500"/>
            <a:chOff x="0" y="0"/>
            <a:chExt cx="4338320" cy="482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E7B8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66750" y="2095500"/>
            <a:ext cx="3253740" cy="114300"/>
            <a:chOff x="0" y="0"/>
            <a:chExt cx="4338320" cy="15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E7B8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76300" y="235267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1E7B8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76300" y="2828925"/>
            <a:ext cx="28346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Pozycje pojazdów, 17.10.2026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6300" y="366712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API Warszawy (ZTM)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300" y="4238625"/>
            <a:ext cx="28346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7 555 kursów; 56 625 zatrzymań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091940" y="2095500"/>
            <a:ext cx="3253740" cy="3619500"/>
            <a:chOff x="0" y="0"/>
            <a:chExt cx="4338320" cy="482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E7B8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091940" y="2095500"/>
            <a:ext cx="3253740" cy="114300"/>
            <a:chOff x="0" y="0"/>
            <a:chExt cx="4338320" cy="152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E7B8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301490" y="235267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1E7B8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01490" y="282892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Rozkłady GTFS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301490" y="366712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ZTM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01490" y="423862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dopasowanie kursów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517130" y="2095500"/>
            <a:ext cx="3253740" cy="3619500"/>
            <a:chOff x="0" y="0"/>
            <a:chExt cx="4338320" cy="482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E7B80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517130" y="2095500"/>
            <a:ext cx="3253740" cy="114300"/>
            <a:chOff x="0" y="0"/>
            <a:chExt cx="4338320" cy="152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E7B8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7726680" y="235267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1E7B8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26680" y="2828925"/>
            <a:ext cx="28346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Klimatyzacja pojazdów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726680" y="4238625"/>
            <a:ext cx="283464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97.3% tramwajów; 99,0% autobusów; linie 7 i 28 w większości bez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0942320" y="2095500"/>
            <a:ext cx="3253740" cy="3619500"/>
            <a:chOff x="0" y="0"/>
            <a:chExt cx="4338320" cy="4826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E7B8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942320" y="2095500"/>
            <a:ext cx="3253740" cy="114300"/>
            <a:chOff x="0" y="0"/>
            <a:chExt cx="4338320" cy="152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E7B80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151870" y="235267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1E7B8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151870" y="282892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Toalety publiczne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51870" y="366712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API Warszawy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151870" y="423862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punkty postoju i ochłody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4367510" y="2095500"/>
            <a:ext cx="3253740" cy="3619500"/>
            <a:chOff x="0" y="0"/>
            <a:chExt cx="4338320" cy="4826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E7B80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4367510" y="2095500"/>
            <a:ext cx="3253740" cy="114300"/>
            <a:chOff x="0" y="0"/>
            <a:chExt cx="4338320" cy="152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E7B80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4577060" y="235267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1E7B8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577060" y="282892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Drzewa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4577060" y="366712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otwarte dane Warszawy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4577060" y="4238625"/>
            <a:ext cx="28346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weryfikacja wysokości z LiDAR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66750" y="5429250"/>
            <a:ext cx="3253740" cy="3619500"/>
            <a:chOff x="0" y="0"/>
            <a:chExt cx="4338320" cy="4826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23B14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66750" y="5429250"/>
            <a:ext cx="3253740" cy="114300"/>
            <a:chOff x="0" y="0"/>
            <a:chExt cx="4338320" cy="152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23B14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876300" y="568642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B23B14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GEOMETRIA I ŚRODOWISKO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76300" y="616267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LiDAR 1 m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876300" y="70008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GUGIK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76300" y="7572375"/>
            <a:ext cx="283464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budynki i korony zmapowane do wielkości liści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4091940" y="5429250"/>
            <a:ext cx="3253740" cy="3619500"/>
            <a:chOff x="0" y="0"/>
            <a:chExt cx="4338320" cy="48260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23B14"/>
              </a:solidFill>
              <a:prstDash val="solid"/>
              <a:miter/>
            </a:ln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091940" y="5429250"/>
            <a:ext cx="3253740" cy="114300"/>
            <a:chOff x="0" y="0"/>
            <a:chExt cx="4338320" cy="152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23B14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4301490" y="568642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B23B14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GEOMETRIA I ŚRODOWISKO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4301490" y="616267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Pogoda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301490" y="70008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IMGW, ERAS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301490" y="7572375"/>
            <a:ext cx="28346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temperatura, wilgotność, wiatr, promieniowanie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7517130" y="5429250"/>
            <a:ext cx="3253740" cy="3619500"/>
            <a:chOff x="0" y="0"/>
            <a:chExt cx="4338320" cy="48260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23B14"/>
              </a:solidFill>
              <a:prstDash val="solid"/>
              <a:miter/>
            </a:ln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517130" y="5429250"/>
            <a:ext cx="3253740" cy="114300"/>
            <a:chOff x="0" y="0"/>
            <a:chExt cx="4338320" cy="152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23B14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2" id="82"/>
          <p:cNvSpPr txBox="true"/>
          <p:nvPr/>
        </p:nvSpPr>
        <p:spPr>
          <a:xfrm rot="0">
            <a:off x="7726680" y="568642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b="true" sz="1599" spc="111">
                <a:solidFill>
                  <a:srgbClr val="B23B14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GEOMETRIA I ŚRODOWISKO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726680" y="616267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Zdjęcia satelitarne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726680" y="70008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Landsat 8/9, Sentinel-2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726680" y="75723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walidacja, zieleń i woda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0942320" y="5429250"/>
            <a:ext cx="3253740" cy="3619500"/>
            <a:chOff x="0" y="0"/>
            <a:chExt cx="4338320" cy="4826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1E7B80"/>
              </a:solidFill>
              <a:prstDash val="solid"/>
              <a:miter/>
            </a:ln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942320" y="5429250"/>
            <a:ext cx="3253740" cy="114300"/>
            <a:chOff x="0" y="0"/>
            <a:chExt cx="4338320" cy="152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E7B80"/>
            </a:solid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2" id="92"/>
          <p:cNvSpPr txBox="true"/>
          <p:nvPr/>
        </p:nvSpPr>
        <p:spPr>
          <a:xfrm rot="0">
            <a:off x="11151870" y="568642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pc="111" strike="noStrike" u="none">
                <a:solidFill>
                  <a:srgbClr val="1E7B80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151870" y="6162675"/>
            <a:ext cx="2834640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Punkty ochłody i wody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151870" y="70008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OSM + API Warszawy +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151870" y="75723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warstwa mapy upału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14367510" y="5429250"/>
            <a:ext cx="3253740" cy="3619500"/>
            <a:chOff x="0" y="0"/>
            <a:chExt cx="4338320" cy="4826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338320" cy="4826000"/>
            </a:xfrm>
            <a:custGeom>
              <a:avLst/>
              <a:gdLst/>
              <a:ahLst/>
              <a:cxnLst/>
              <a:rect r="r" b="b" t="t" l="l"/>
              <a:pathLst>
                <a:path h="4826000" w="4338320">
                  <a:moveTo>
                    <a:pt x="177800" y="0"/>
                  </a:moveTo>
                  <a:lnTo>
                    <a:pt x="4160520" y="0"/>
                  </a:lnTo>
                  <a:cubicBezTo>
                    <a:pt x="4258716" y="0"/>
                    <a:pt x="4338320" y="79604"/>
                    <a:pt x="4338320" y="177800"/>
                  </a:cubicBezTo>
                  <a:lnTo>
                    <a:pt x="4338320" y="4648200"/>
                  </a:lnTo>
                  <a:cubicBezTo>
                    <a:pt x="4338320" y="4695356"/>
                    <a:pt x="4319588" y="4740580"/>
                    <a:pt x="4286244" y="4773924"/>
                  </a:cubicBezTo>
                  <a:cubicBezTo>
                    <a:pt x="4252900" y="4807267"/>
                    <a:pt x="4207676" y="4826000"/>
                    <a:pt x="4160520" y="4826000"/>
                  </a:cubicBezTo>
                  <a:lnTo>
                    <a:pt x="177800" y="4826000"/>
                  </a:lnTo>
                  <a:cubicBezTo>
                    <a:pt x="79604" y="4826000"/>
                    <a:pt x="0" y="4746396"/>
                    <a:pt x="0" y="4648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23B14"/>
              </a:solidFill>
              <a:prstDash val="solid"/>
              <a:miter/>
            </a:ln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433832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4367510" y="5429250"/>
            <a:ext cx="3253740" cy="114300"/>
            <a:chOff x="0" y="0"/>
            <a:chExt cx="4338320" cy="1524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338320" cy="152400"/>
            </a:xfrm>
            <a:custGeom>
              <a:avLst/>
              <a:gdLst/>
              <a:ahLst/>
              <a:cxnLst/>
              <a:rect r="r" b="b" t="t" l="l"/>
              <a:pathLst>
                <a:path h="152400" w="4338320">
                  <a:moveTo>
                    <a:pt x="76200" y="0"/>
                  </a:moveTo>
                  <a:lnTo>
                    <a:pt x="4262120" y="0"/>
                  </a:lnTo>
                  <a:cubicBezTo>
                    <a:pt x="4304204" y="0"/>
                    <a:pt x="4338320" y="34116"/>
                    <a:pt x="4338320" y="76200"/>
                  </a:cubicBezTo>
                  <a:lnTo>
                    <a:pt x="4338320" y="76200"/>
                  </a:lnTo>
                  <a:cubicBezTo>
                    <a:pt x="4338320" y="96409"/>
                    <a:pt x="4330292" y="115791"/>
                    <a:pt x="4316002" y="130082"/>
                  </a:cubicBezTo>
                  <a:cubicBezTo>
                    <a:pt x="4301711" y="144372"/>
                    <a:pt x="4282330" y="152400"/>
                    <a:pt x="4262120" y="152400"/>
                  </a:cubicBezTo>
                  <a:lnTo>
                    <a:pt x="76200" y="152400"/>
                  </a:lnTo>
                  <a:cubicBezTo>
                    <a:pt x="34116" y="152400"/>
                    <a:pt x="0" y="118284"/>
                    <a:pt x="0" y="762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B23B14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4338320" cy="19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4577060" y="5686425"/>
            <a:ext cx="283464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19"/>
              </a:lnSpc>
              <a:spcBef>
                <a:spcPct val="0"/>
              </a:spcBef>
            </a:pPr>
            <a:r>
              <a:rPr lang="en-US" b="true" sz="1599" spc="111" strike="noStrike" u="none">
                <a:solidFill>
                  <a:srgbClr val="B23B14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DANE MIEJSKIE I TRANSPORTOWE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577060" y="6162675"/>
            <a:ext cx="283464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52E36"/>
                </a:solidFill>
                <a:latin typeface="Public Sans 2 Bold"/>
                <a:ea typeface="Public Sans 2 Bold"/>
                <a:cs typeface="Public Sans 2 Bold"/>
                <a:sym typeface="Public Sans 2 Bold"/>
              </a:rPr>
              <a:t>Albedo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4577060" y="7000875"/>
            <a:ext cx="28346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59636B"/>
                </a:solidFill>
                <a:latin typeface="Public Sans 2"/>
                <a:ea typeface="Public Sans 2"/>
                <a:cs typeface="Public Sans 2"/>
                <a:sym typeface="Public Sans 2"/>
              </a:rPr>
              <a:t>Sentinel-2 (27.06.2026)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577060" y="7572375"/>
            <a:ext cx="283464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252E36"/>
                </a:solidFill>
                <a:latin typeface="Public Sans 2"/>
                <a:ea typeface="Public Sans 2"/>
                <a:cs typeface="Public Sans 2"/>
                <a:sym typeface="Public Sans 2"/>
              </a:rPr>
              <a:t>dlaczego powierzchnię grzeją inaczej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7517130" y="9048750"/>
            <a:ext cx="32537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2362200"/>
          </a:xfrm>
          <a:custGeom>
            <a:avLst/>
            <a:gdLst/>
            <a:ahLst/>
            <a:cxnLst/>
            <a:rect r="r" b="b" t="t" l="l"/>
            <a:pathLst>
              <a:path h="2362200" w="18288000">
                <a:moveTo>
                  <a:pt x="0" y="0"/>
                </a:moveTo>
                <a:lnTo>
                  <a:pt x="18288000" y="0"/>
                </a:lnTo>
                <a:lnTo>
                  <a:pt x="182880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924050"/>
            <a:ext cx="4572000" cy="438150"/>
          </a:xfrm>
          <a:custGeom>
            <a:avLst/>
            <a:gdLst/>
            <a:ahLst/>
            <a:cxnLst/>
            <a:rect r="r" b="b" t="t" l="l"/>
            <a:pathLst>
              <a:path h="438150" w="4572000">
                <a:moveTo>
                  <a:pt x="0" y="0"/>
                </a:moveTo>
                <a:lnTo>
                  <a:pt x="4572000" y="0"/>
                </a:lnTo>
                <a:lnTo>
                  <a:pt x="45720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705225" y="5248296"/>
            <a:ext cx="885825" cy="219075"/>
          </a:xfrm>
          <a:custGeom>
            <a:avLst/>
            <a:gdLst/>
            <a:ahLst/>
            <a:cxnLst/>
            <a:rect r="r" b="b" t="t" l="l"/>
            <a:pathLst>
              <a:path h="219075" w="885825">
                <a:moveTo>
                  <a:pt x="0" y="0"/>
                </a:moveTo>
                <a:lnTo>
                  <a:pt x="885825" y="0"/>
                </a:lnTo>
                <a:lnTo>
                  <a:pt x="8858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75328" y="5248296"/>
            <a:ext cx="666750" cy="219075"/>
          </a:xfrm>
          <a:custGeom>
            <a:avLst/>
            <a:gdLst/>
            <a:ahLst/>
            <a:cxnLst/>
            <a:rect r="r" b="b" t="t" l="l"/>
            <a:pathLst>
              <a:path h="219075" w="666750">
                <a:moveTo>
                  <a:pt x="0" y="0"/>
                </a:moveTo>
                <a:lnTo>
                  <a:pt x="666750" y="0"/>
                </a:lnTo>
                <a:lnTo>
                  <a:pt x="6667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76625" y="6858000"/>
            <a:ext cx="228600" cy="219075"/>
          </a:xfrm>
          <a:custGeom>
            <a:avLst/>
            <a:gdLst/>
            <a:ahLst/>
            <a:cxnLst/>
            <a:rect r="r" b="b" t="t" l="l"/>
            <a:pathLst>
              <a:path h="219075" w="228600">
                <a:moveTo>
                  <a:pt x="0" y="0"/>
                </a:moveTo>
                <a:lnTo>
                  <a:pt x="228600" y="0"/>
                </a:lnTo>
                <a:lnTo>
                  <a:pt x="228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096000" y="6858000"/>
            <a:ext cx="438150" cy="219075"/>
          </a:xfrm>
          <a:custGeom>
            <a:avLst/>
            <a:gdLst/>
            <a:ahLst/>
            <a:cxnLst/>
            <a:rect r="r" b="b" t="t" l="l"/>
            <a:pathLst>
              <a:path h="219075" w="438150">
                <a:moveTo>
                  <a:pt x="0" y="0"/>
                </a:moveTo>
                <a:lnTo>
                  <a:pt x="438150" y="0"/>
                </a:lnTo>
                <a:lnTo>
                  <a:pt x="4381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267700" y="6858000"/>
            <a:ext cx="447675" cy="219075"/>
          </a:xfrm>
          <a:custGeom>
            <a:avLst/>
            <a:gdLst/>
            <a:ahLst/>
            <a:cxnLst/>
            <a:rect r="r" b="b" t="t" l="l"/>
            <a:pathLst>
              <a:path h="219075" w="447675">
                <a:moveTo>
                  <a:pt x="0" y="0"/>
                </a:moveTo>
                <a:lnTo>
                  <a:pt x="447675" y="0"/>
                </a:lnTo>
                <a:lnTo>
                  <a:pt x="44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44925" y="9429750"/>
            <a:ext cx="1743075" cy="857250"/>
          </a:xfrm>
          <a:custGeom>
            <a:avLst/>
            <a:gdLst/>
            <a:ahLst/>
            <a:cxnLst/>
            <a:rect r="r" b="b" t="t" l="l"/>
            <a:pathLst>
              <a:path h="857250" w="1743075">
                <a:moveTo>
                  <a:pt x="0" y="0"/>
                </a:moveTo>
                <a:lnTo>
                  <a:pt x="1743075" y="0"/>
                </a:lnTo>
                <a:lnTo>
                  <a:pt x="174307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22255" y="636738"/>
            <a:ext cx="10820572" cy="90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b="true">
                <a:solidFill>
                  <a:srgbClr val="FFFFFF">
                    <a:alpha val="89804"/>
                  </a:srgbClr>
                </a:solidFill>
                <a:latin typeface="Gotham Condensed Bold"/>
                <a:ea typeface="Gotham Condensed Bold"/>
                <a:cs typeface="Gotham Condensed Bold"/>
                <a:sym typeface="Gotham Condensed Bold"/>
              </a:rPr>
              <a:t>Planer, który mówi którędy i kiedy wyjść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943" y="6814207"/>
            <a:ext cx="2188844" cy="36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55">
                <a:solidFill>
                  <a:srgbClr val="E15427">
                    <a:alpha val="89804"/>
                  </a:srgbClr>
                </a:solidFill>
                <a:latin typeface="Gotham Condensed Heavy"/>
                <a:ea typeface="Gotham Condensed Heavy"/>
                <a:cs typeface="Gotham Condensed Heavy"/>
                <a:sym typeface="Gotham Condensed Heavy"/>
              </a:rPr>
              <a:t>NAJCHŁODNIEJSZA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51750" y="6814207"/>
            <a:ext cx="2097010" cy="36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55">
                <a:solidFill>
                  <a:srgbClr val="E15427">
                    <a:alpha val="89804"/>
                  </a:srgbClr>
                </a:solidFill>
                <a:latin typeface="Gotham Condensed Heavy"/>
                <a:ea typeface="Gotham Condensed Heavy"/>
                <a:cs typeface="Gotham Condensed Heavy"/>
                <a:sym typeface="Gotham Condensed Heavy"/>
              </a:rPr>
              <a:t>ZRÓWNOWAŻONA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85255" y="6814207"/>
            <a:ext cx="1490073" cy="36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55">
                <a:solidFill>
                  <a:srgbClr val="E15427">
                    <a:alpha val="89804"/>
                  </a:srgbClr>
                </a:solidFill>
                <a:latin typeface="Gotham Condensed Heavy"/>
                <a:ea typeface="Gotham Condensed Heavy"/>
                <a:cs typeface="Gotham Condensed Heavy"/>
                <a:sym typeface="Gotham Condensed Heavy"/>
              </a:rPr>
              <a:t>NAJSZYBSZA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04562" y="6814207"/>
            <a:ext cx="1635448" cy="36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b="true" sz="2759" spc="55">
                <a:solidFill>
                  <a:srgbClr val="E15427">
                    <a:alpha val="89804"/>
                  </a:srgbClr>
                </a:solidFill>
                <a:latin typeface="Gotham Condensed Heavy"/>
                <a:ea typeface="Gotham Condensed Heavy"/>
                <a:cs typeface="Gotham Condensed Heavy"/>
                <a:sym typeface="Gotham Condensed Heavy"/>
              </a:rPr>
              <a:t>TYLKO PIESZO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9142" y="7593806"/>
            <a:ext cx="10847518" cy="2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916" b="true">
                <a:solidFill>
                  <a:srgbClr val="3F46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Każda karta: dawka ciepła • czas • szczyt UTCI • minuty stresu • cień • najlepsza godzina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08459" y="9712858"/>
            <a:ext cx="271477" cy="328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87"/>
              </a:lnSpc>
            </a:pPr>
            <a:r>
              <a:rPr lang="en-US" b="true" sz="2487" spc="49">
                <a:solidFill>
                  <a:srgbClr val="FFFFFF">
                    <a:alpha val="89804"/>
                  </a:srgbClr>
                </a:solidFill>
                <a:latin typeface="Gotham Condensed Heavy"/>
                <a:ea typeface="Gotham Condensed Heavy"/>
                <a:cs typeface="Gotham Condensed Heavy"/>
                <a:sym typeface="Gotham Condensed Heavy"/>
              </a:rPr>
              <a:t>05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2911" y="2753097"/>
            <a:ext cx="13179543" cy="275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sz="2188" b="true">
                <a:solidFill>
                  <a:srgbClr val="3F464B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UTCI na każdym etapie • czekanie w domu „za darmo” • klimatyzowana jazda = komfort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36357" y="4673929"/>
            <a:ext cx="16062687" cy="1367810"/>
            <a:chOff x="0" y="0"/>
            <a:chExt cx="21416916" cy="1823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09526" cy="1823746"/>
            </a:xfrm>
            <a:custGeom>
              <a:avLst/>
              <a:gdLst/>
              <a:ahLst/>
              <a:cxnLst/>
              <a:rect r="r" b="b" t="t" l="l"/>
              <a:pathLst>
                <a:path h="1823746" w="4809526">
                  <a:moveTo>
                    <a:pt x="0" y="0"/>
                  </a:moveTo>
                  <a:lnTo>
                    <a:pt x="4809526" y="0"/>
                  </a:lnTo>
                  <a:lnTo>
                    <a:pt x="4809526" y="1823746"/>
                  </a:lnTo>
                  <a:lnTo>
                    <a:pt x="0" y="1823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535797" y="0"/>
              <a:ext cx="4809526" cy="1823746"/>
            </a:xfrm>
            <a:custGeom>
              <a:avLst/>
              <a:gdLst/>
              <a:ahLst/>
              <a:cxnLst/>
              <a:rect r="r" b="b" t="t" l="l"/>
              <a:pathLst>
                <a:path h="1823746" w="4809526">
                  <a:moveTo>
                    <a:pt x="0" y="0"/>
                  </a:moveTo>
                  <a:lnTo>
                    <a:pt x="4809526" y="0"/>
                  </a:lnTo>
                  <a:lnTo>
                    <a:pt x="4809526" y="1823746"/>
                  </a:lnTo>
                  <a:lnTo>
                    <a:pt x="0" y="1823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071593" y="0"/>
              <a:ext cx="5180731" cy="1823746"/>
            </a:xfrm>
            <a:custGeom>
              <a:avLst/>
              <a:gdLst/>
              <a:ahLst/>
              <a:cxnLst/>
              <a:rect r="r" b="b" t="t" l="l"/>
              <a:pathLst>
                <a:path h="1823746" w="5180731">
                  <a:moveTo>
                    <a:pt x="0" y="0"/>
                  </a:moveTo>
                  <a:lnTo>
                    <a:pt x="5180731" y="0"/>
                  </a:lnTo>
                  <a:lnTo>
                    <a:pt x="5180731" y="1823746"/>
                  </a:lnTo>
                  <a:lnTo>
                    <a:pt x="0" y="1823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864980" y="726271"/>
              <a:ext cx="1113615" cy="371205"/>
            </a:xfrm>
            <a:custGeom>
              <a:avLst/>
              <a:gdLst/>
              <a:ahLst/>
              <a:cxnLst/>
              <a:rect r="r" b="b" t="t" l="l"/>
              <a:pathLst>
                <a:path h="371205" w="1113615">
                  <a:moveTo>
                    <a:pt x="0" y="0"/>
                  </a:moveTo>
                  <a:lnTo>
                    <a:pt x="1113615" y="0"/>
                  </a:lnTo>
                  <a:lnTo>
                    <a:pt x="1113615" y="371205"/>
                  </a:lnTo>
                  <a:lnTo>
                    <a:pt x="0" y="3712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6607390" y="0"/>
              <a:ext cx="4809526" cy="1823746"/>
            </a:xfrm>
            <a:custGeom>
              <a:avLst/>
              <a:gdLst/>
              <a:ahLst/>
              <a:cxnLst/>
              <a:rect r="r" b="b" t="t" l="l"/>
              <a:pathLst>
                <a:path h="1823746" w="4809526">
                  <a:moveTo>
                    <a:pt x="0" y="0"/>
                  </a:moveTo>
                  <a:lnTo>
                    <a:pt x="4809526" y="0"/>
                  </a:lnTo>
                  <a:lnTo>
                    <a:pt x="4809526" y="1823746"/>
                  </a:lnTo>
                  <a:lnTo>
                    <a:pt x="0" y="1823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1417790" y="625242"/>
              <a:ext cx="4285386" cy="63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7"/>
                </a:lnSpc>
              </a:pPr>
              <a:r>
                <a:rPr lang="en-US" b="true" sz="3507" spc="70">
                  <a:solidFill>
                    <a:srgbClr val="FFFFFF">
                      <a:alpha val="89804"/>
                    </a:srgbClr>
                  </a:solidFill>
                  <a:latin typeface="Gotham Condensed Heavy"/>
                  <a:ea typeface="Gotham Condensed Heavy"/>
                  <a:cs typeface="Gotham Condensed Heavy"/>
                  <a:sym typeface="Gotham Condensed Heavy"/>
                </a:rPr>
                <a:t>TRAMWAJ / AUTOBUS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022835" y="625242"/>
              <a:ext cx="1916146" cy="63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7"/>
                </a:lnSpc>
              </a:pPr>
              <a:r>
                <a:rPr lang="en-US" b="true" sz="3507" spc="70">
                  <a:solidFill>
                    <a:srgbClr val="FFFFFF">
                      <a:alpha val="89804"/>
                    </a:srgbClr>
                  </a:solidFill>
                  <a:latin typeface="Gotham Condensed Heavy"/>
                  <a:ea typeface="Gotham Condensed Heavy"/>
                  <a:cs typeface="Gotham Condensed Heavy"/>
                  <a:sym typeface="Gotham Condensed Heavy"/>
                </a:rPr>
                <a:t>CZEKANIE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34656" y="625242"/>
              <a:ext cx="1516738" cy="63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7"/>
                </a:lnSpc>
              </a:pPr>
              <a:r>
                <a:rPr lang="en-US" b="true" sz="3507" spc="70">
                  <a:solidFill>
                    <a:srgbClr val="FFFFFF">
                      <a:alpha val="89804"/>
                    </a:srgbClr>
                  </a:solidFill>
                  <a:latin typeface="Gotham Condensed Heavy"/>
                  <a:ea typeface="Gotham Condensed Heavy"/>
                  <a:cs typeface="Gotham Condensed Heavy"/>
                  <a:sym typeface="Gotham Condensed Heavy"/>
                </a:rPr>
                <a:t>SPACER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8348099" y="625242"/>
              <a:ext cx="1516738" cy="6365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07"/>
                </a:lnSpc>
              </a:pPr>
              <a:r>
                <a:rPr lang="en-US" b="true" sz="3507" spc="70">
                  <a:solidFill>
                    <a:srgbClr val="FFFFFF">
                      <a:alpha val="89804"/>
                    </a:srgbClr>
                  </a:solidFill>
                  <a:latin typeface="Gotham Condensed Heavy"/>
                  <a:ea typeface="Gotham Condensed Heavy"/>
                  <a:cs typeface="Gotham Condensed Heavy"/>
                  <a:sym typeface="Gotham Condensed Heavy"/>
                </a:rPr>
                <a:t>SPACER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714500"/>
          </a:xfrm>
          <a:custGeom>
            <a:avLst/>
            <a:gdLst/>
            <a:ahLst/>
            <a:cxnLst/>
            <a:rect r="r" b="b" t="t" l="l"/>
            <a:pathLst>
              <a:path h="1714500" w="18288000">
                <a:moveTo>
                  <a:pt x="0" y="0"/>
                </a:moveTo>
                <a:lnTo>
                  <a:pt x="18288000" y="0"/>
                </a:lnTo>
                <a:lnTo>
                  <a:pt x="182880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9573" y="527410"/>
            <a:ext cx="15731011" cy="660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b="true">
                <a:solidFill>
                  <a:srgbClr val="FFFFFF">
                    <a:alpha val="89804"/>
                  </a:srgbClr>
                </a:solidFill>
                <a:latin typeface="Oswald Bold"/>
                <a:ea typeface="Oswald Bold"/>
                <a:cs typeface="Oswald Bold"/>
                <a:sym typeface="Oswald Bold"/>
              </a:rPr>
              <a:t>Odczuwalna temperatura na każdym metrze chodnika, co 30 minut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352675"/>
            <a:ext cx="4143375" cy="3438525"/>
          </a:xfrm>
          <a:custGeom>
            <a:avLst/>
            <a:gdLst/>
            <a:ahLst/>
            <a:cxnLst/>
            <a:rect r="r" b="b" t="t" l="l"/>
            <a:pathLst>
              <a:path h="3438525" w="4143375">
                <a:moveTo>
                  <a:pt x="0" y="0"/>
                </a:moveTo>
                <a:lnTo>
                  <a:pt x="4143375" y="0"/>
                </a:lnTo>
                <a:lnTo>
                  <a:pt x="4143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91229" y="2742530"/>
            <a:ext cx="312983" cy="92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206" b="true">
                <a:solidFill>
                  <a:srgbClr val="D83F11"/>
                </a:solidFill>
                <a:latin typeface="Oswald Bold"/>
                <a:ea typeface="Oswald Bold"/>
                <a:cs typeface="Oswald Bold"/>
                <a:sym typeface="Oswald Bold"/>
              </a:rPr>
              <a:t>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1340" y="3557591"/>
            <a:ext cx="2958212" cy="81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true">
                <a:solidFill>
                  <a:srgbClr val="29323B"/>
                </a:solidFill>
                <a:latin typeface="Roboto Bold"/>
                <a:ea typeface="Roboto Bold"/>
                <a:cs typeface="Roboto Bold"/>
                <a:sym typeface="Roboto Bold"/>
              </a:rPr>
              <a:t>LIDAR 1 m (GUGiK): budynki i grunt 2025, drzewa z liśćmi 2023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000625" y="2352675"/>
            <a:ext cx="4143375" cy="3438525"/>
          </a:xfrm>
          <a:custGeom>
            <a:avLst/>
            <a:gdLst/>
            <a:ahLst/>
            <a:cxnLst/>
            <a:rect r="r" b="b" t="t" l="l"/>
            <a:pathLst>
              <a:path h="3438525" w="4143375">
                <a:moveTo>
                  <a:pt x="0" y="0"/>
                </a:moveTo>
                <a:lnTo>
                  <a:pt x="4143375" y="0"/>
                </a:lnTo>
                <a:lnTo>
                  <a:pt x="414337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180771" y="2742530"/>
            <a:ext cx="413556" cy="92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206" b="true">
                <a:solidFill>
                  <a:srgbClr val="D83F11"/>
                </a:solidFill>
                <a:latin typeface="Oswald Bold"/>
                <a:ea typeface="Oswald Bold"/>
                <a:cs typeface="Oswald Bold"/>
                <a:sym typeface="Oswald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73961" y="2913338"/>
            <a:ext cx="2973586" cy="32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1D6E74"/>
                </a:solidFill>
                <a:latin typeface="Oswald Bold"/>
                <a:ea typeface="Oswald Bold"/>
                <a:cs typeface="Oswald Bold"/>
                <a:sym typeface="Oswald Bold"/>
              </a:rPr>
              <a:t>PROMIENIOWANIE I CIEŃ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948841" y="3557591"/>
            <a:ext cx="2511985" cy="81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true">
                <a:solidFill>
                  <a:srgbClr val="29323B"/>
                </a:solidFill>
                <a:latin typeface="Roboto Bold"/>
                <a:ea typeface="Roboto Bold"/>
                <a:cs typeface="Roboto Bold"/>
                <a:sym typeface="Roboto Bold"/>
              </a:rPr>
              <a:t>SOLWEIG: 27 kafi 1 km, chmura, 33 kroki, własny silnik długich cieni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2352675"/>
            <a:ext cx="4362450" cy="3438525"/>
          </a:xfrm>
          <a:custGeom>
            <a:avLst/>
            <a:gdLst/>
            <a:ahLst/>
            <a:cxnLst/>
            <a:rect r="r" b="b" t="t" l="l"/>
            <a:pathLst>
              <a:path h="3438525" w="4362450">
                <a:moveTo>
                  <a:pt x="0" y="0"/>
                </a:moveTo>
                <a:lnTo>
                  <a:pt x="4362450" y="0"/>
                </a:lnTo>
                <a:lnTo>
                  <a:pt x="4362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493810" y="2742530"/>
            <a:ext cx="413556" cy="92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206" b="true">
                <a:solidFill>
                  <a:srgbClr val="D83F11"/>
                </a:solidFill>
                <a:latin typeface="Oswald Bold"/>
                <a:ea typeface="Oswald Bold"/>
                <a:cs typeface="Oswald Bold"/>
                <a:sym typeface="Oswald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59133" y="3557591"/>
            <a:ext cx="2786704" cy="81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b="true">
                <a:solidFill>
                  <a:srgbClr val="29323B"/>
                </a:solidFill>
                <a:latin typeface="Roboto Bold"/>
                <a:ea typeface="Roboto Bold"/>
                <a:cs typeface="Roboto Bold"/>
                <a:sym typeface="Roboto Bold"/>
              </a:rPr>
              <a:t>Promieniowanie, powietrze, wilgotność, wiatr; IMGW i ERAS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496925" y="2352675"/>
            <a:ext cx="4362450" cy="3438525"/>
          </a:xfrm>
          <a:custGeom>
            <a:avLst/>
            <a:gdLst/>
            <a:ahLst/>
            <a:cxnLst/>
            <a:rect r="r" b="b" t="t" l="l"/>
            <a:pathLst>
              <a:path h="3438525" w="4362450">
                <a:moveTo>
                  <a:pt x="0" y="0"/>
                </a:moveTo>
                <a:lnTo>
                  <a:pt x="4362450" y="0"/>
                </a:lnTo>
                <a:lnTo>
                  <a:pt x="4362450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749248" y="2742530"/>
            <a:ext cx="421602" cy="928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48"/>
              </a:lnSpc>
            </a:pPr>
            <a:r>
              <a:rPr lang="en-US" sz="6206" b="true">
                <a:solidFill>
                  <a:srgbClr val="D83F11"/>
                </a:solidFill>
                <a:latin typeface="Oswald Bold"/>
                <a:ea typeface="Oswald Bold"/>
                <a:cs typeface="Oswald Bold"/>
                <a:sym typeface="Oswald Bold"/>
              </a:rPr>
              <a:t>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516749" y="3575599"/>
            <a:ext cx="2971152" cy="50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617" b="true">
                <a:solidFill>
                  <a:srgbClr val="29323B"/>
                </a:solidFill>
                <a:latin typeface="Roboto Bold"/>
                <a:ea typeface="Roboto Bold"/>
                <a:cs typeface="Roboto Bold"/>
                <a:sym typeface="Roboto Bold"/>
              </a:rPr>
              <a:t>Sieć piesza OSM, odcinki do 25 m, obie strony ulic, przejazdy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47700" y="6000750"/>
            <a:ext cx="16992600" cy="2362200"/>
          </a:xfrm>
          <a:custGeom>
            <a:avLst/>
            <a:gdLst/>
            <a:ahLst/>
            <a:cxnLst/>
            <a:rect r="r" b="b" t="t" l="l"/>
            <a:pathLst>
              <a:path h="2362200" w="16992600">
                <a:moveTo>
                  <a:pt x="0" y="0"/>
                </a:moveTo>
                <a:lnTo>
                  <a:pt x="16992600" y="0"/>
                </a:lnTo>
                <a:lnTo>
                  <a:pt x="1699260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447366" y="6404260"/>
            <a:ext cx="9094126" cy="535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40"/>
              </a:lnSpc>
              <a:spcBef>
                <a:spcPct val="0"/>
              </a:spcBef>
            </a:pPr>
            <a:r>
              <a:rPr lang="en-US" b="true" sz="3616" strike="noStrike" u="none">
                <a:solidFill>
                  <a:srgbClr val="FFFFFF">
                    <a:alpha val="89804"/>
                  </a:srgbClr>
                </a:solidFill>
                <a:latin typeface="Oswald Bold"/>
                <a:ea typeface="Oswald Bold"/>
                <a:cs typeface="Oswald Bold"/>
                <a:sym typeface="Oswald Bold"/>
              </a:rPr>
              <a:t>SCORCH SCORE = dawka ciepła H = ∫ g(UTCI) dt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209660" y="7298866"/>
            <a:ext cx="13569535" cy="29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 rośnie powyżej 26°C, mocniej powyżej 32°C i podwójnie powyżej 38°C. Im niższa dawka, tym bezpieczniejsza podróż.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49280" y="9644062"/>
            <a:ext cx="330327" cy="33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74"/>
              </a:lnSpc>
            </a:pPr>
            <a:r>
              <a:rPr lang="en-US" sz="2311" b="true">
                <a:solidFill>
                  <a:srgbClr val="1D434E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0922" y="2913338"/>
            <a:ext cx="2973586" cy="32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1D6E74"/>
                </a:solidFill>
                <a:latin typeface="Oswald Bold"/>
                <a:ea typeface="Oswald Bold"/>
                <a:cs typeface="Oswald Bold"/>
                <a:sym typeface="Oswald Bold"/>
              </a:rPr>
              <a:t>GEOMETRIA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546461" y="2913338"/>
            <a:ext cx="2973586" cy="32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1D6E74"/>
                </a:solidFill>
                <a:latin typeface="Oswald Bold"/>
                <a:ea typeface="Oswald Bold"/>
                <a:cs typeface="Oswald Bold"/>
                <a:sym typeface="Oswald Bold"/>
              </a:rPr>
              <a:t>TRASA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0" y="2913338"/>
            <a:ext cx="2973586" cy="321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true">
                <a:solidFill>
                  <a:srgbClr val="1D6E74"/>
                </a:solidFill>
                <a:latin typeface="Oswald Bold"/>
                <a:ea typeface="Oswald Bold"/>
                <a:cs typeface="Oswald Bold"/>
                <a:sym typeface="Oswald Bold"/>
              </a:rPr>
              <a:t>UTCI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1048" y="514802"/>
            <a:ext cx="13262377" cy="1320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37"/>
              </a:lnSpc>
              <a:spcBef>
                <a:spcPct val="0"/>
              </a:spcBef>
            </a:pPr>
            <a:r>
              <a:rPr lang="en-US" b="true" sz="4447" spc="43" strike="noStrike" u="none">
                <a:solidFill>
                  <a:srgbClr val="252E36"/>
                </a:solidFill>
                <a:latin typeface="Oswald Bold"/>
                <a:ea typeface="Oswald Bold"/>
                <a:cs typeface="Oswald Bold"/>
                <a:sym typeface="Oswald Bold"/>
              </a:rPr>
              <a:t>Od prototypu do otwartej warstwy w każdej aplikacji mapowej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3421712"/>
            <a:ext cx="16341072" cy="437279"/>
          </a:xfrm>
          <a:custGeom>
            <a:avLst/>
            <a:gdLst/>
            <a:ahLst/>
            <a:cxnLst/>
            <a:rect r="r" b="b" t="t" l="l"/>
            <a:pathLst>
              <a:path h="437279" w="16341072">
                <a:moveTo>
                  <a:pt x="0" y="0"/>
                </a:moveTo>
                <a:lnTo>
                  <a:pt x="16341072" y="0"/>
                </a:lnTo>
                <a:lnTo>
                  <a:pt x="16341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84440" y="3421712"/>
            <a:ext cx="448450" cy="437279"/>
          </a:xfrm>
          <a:custGeom>
            <a:avLst/>
            <a:gdLst/>
            <a:ahLst/>
            <a:cxnLst/>
            <a:rect r="r" b="b" t="t" l="l"/>
            <a:pathLst>
              <a:path h="437279" w="448450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9110" y="1705390"/>
            <a:ext cx="1531292" cy="1727254"/>
          </a:xfrm>
          <a:custGeom>
            <a:avLst/>
            <a:gdLst/>
            <a:ahLst/>
            <a:cxnLst/>
            <a:rect r="r" b="b" t="t" l="l"/>
            <a:pathLst>
              <a:path h="1727254" w="1531292">
                <a:moveTo>
                  <a:pt x="0" y="0"/>
                </a:moveTo>
                <a:lnTo>
                  <a:pt x="1531292" y="0"/>
                </a:lnTo>
                <a:lnTo>
                  <a:pt x="153129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7866" y="1924030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76500" y="3916819"/>
            <a:ext cx="810324" cy="90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0"/>
              </a:lnSpc>
              <a:spcBef>
                <a:spcPct val="0"/>
              </a:spcBef>
            </a:pPr>
            <a:r>
              <a:rPr lang="en-US" b="true" sz="2487" spc="-24" strike="noStrike" u="none">
                <a:solidFill>
                  <a:srgbClr val="1D7F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Teraz –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1048" y="4759822"/>
            <a:ext cx="3973405" cy="1045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38"/>
              </a:lnSpc>
              <a:spcBef>
                <a:spcPct val="0"/>
              </a:spcBef>
            </a:pPr>
            <a:r>
              <a:rPr lang="en-US" sz="1892" spc="-18" strike="noStrike" u="none">
                <a:solidFill>
                  <a:srgbClr val="252E36"/>
                </a:solidFill>
                <a:latin typeface="Public Sans 1"/>
                <a:ea typeface="Public Sans 1"/>
                <a:cs typeface="Public Sans 1"/>
                <a:sym typeface="Public Sans 1"/>
              </a:rPr>
              <a:t>publiczna aplikacja dla Śródmieścia: mapa z suwakiem czasu, planerem tras i trzema widokami upału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311110" y="321400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54842" y="1705390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092354" y="1924030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569336" y="3916819"/>
            <a:ext cx="2042618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0"/>
              </a:lnSpc>
              <a:spcBef>
                <a:spcPct val="0"/>
              </a:spcBef>
            </a:pPr>
            <a:r>
              <a:rPr lang="en-US" b="true" sz="2487" spc="-24" strike="noStrike" u="none">
                <a:solidFill>
                  <a:srgbClr val="1D7F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Lato 2027 –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95499" y="4388308"/>
            <a:ext cx="2190292" cy="1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4"/>
              </a:lnSpc>
              <a:spcBef>
                <a:spcPct val="0"/>
              </a:spcBef>
            </a:pPr>
            <a:r>
              <a:rPr lang="en-US" sz="1863" spc="-18" strike="noStrike" u="none">
                <a:solidFill>
                  <a:srgbClr val="252E36"/>
                </a:solidFill>
                <a:latin typeface="Public Sans 1"/>
                <a:ea typeface="Public Sans 1"/>
                <a:cs typeface="Public Sans 1"/>
                <a:sym typeface="Public Sans 1"/>
              </a:rPr>
              <a:t>pilotaż z mieszkańcami, ostrzeżenia przed upałem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445598" y="321400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789330" y="1705390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08086" y="1924030"/>
            <a:ext cx="1323474" cy="1300906"/>
          </a:xfrm>
          <a:custGeom>
            <a:avLst/>
            <a:gdLst/>
            <a:ahLst/>
            <a:cxnLst/>
            <a:rect r="r" b="b" t="t" l="l"/>
            <a:pathLst>
              <a:path h="1300906" w="1323474">
                <a:moveTo>
                  <a:pt x="0" y="0"/>
                </a:moveTo>
                <a:lnTo>
                  <a:pt x="1323474" y="0"/>
                </a:lnTo>
                <a:lnTo>
                  <a:pt x="132347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401711" y="4388308"/>
            <a:ext cx="2650867" cy="1342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4"/>
              </a:lnSpc>
              <a:spcBef>
                <a:spcPct val="0"/>
              </a:spcBef>
            </a:pPr>
            <a:r>
              <a:rPr lang="en-US" sz="1863" spc="-18" strike="noStrike" u="none">
                <a:solidFill>
                  <a:srgbClr val="252E36"/>
                </a:solidFill>
                <a:latin typeface="Public Sans 1"/>
                <a:ea typeface="Public Sans 1"/>
                <a:cs typeface="Public Sans 1"/>
                <a:sym typeface="Public Sans 1"/>
              </a:rPr>
              <a:t>narzędzie do planowania zieleni i oceny projektów przestrzeni publicznej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361330" y="3214004"/>
            <a:ext cx="448450" cy="644987"/>
          </a:xfrm>
          <a:custGeom>
            <a:avLst/>
            <a:gdLst/>
            <a:ahLst/>
            <a:cxnLst/>
            <a:rect r="r" b="b" t="t" l="l"/>
            <a:pathLst>
              <a:path h="644987" w="448450">
                <a:moveTo>
                  <a:pt x="0" y="0"/>
                </a:moveTo>
                <a:lnTo>
                  <a:pt x="448450" y="0"/>
                </a:lnTo>
                <a:lnTo>
                  <a:pt x="44845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923818" y="1705390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4142574" y="1924030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4156152" y="3916819"/>
            <a:ext cx="1051724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0"/>
              </a:lnSpc>
              <a:spcBef>
                <a:spcPct val="0"/>
              </a:spcBef>
            </a:pPr>
            <a:r>
              <a:rPr lang="en-US" b="true" sz="2487" spc="-24" strike="noStrike" u="none">
                <a:solidFill>
                  <a:srgbClr val="1D7F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2030+ –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717033" y="4388308"/>
            <a:ext cx="1929961" cy="100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4"/>
              </a:lnSpc>
              <a:spcBef>
                <a:spcPct val="0"/>
              </a:spcBef>
            </a:pPr>
            <a:r>
              <a:rPr lang="en-US" sz="1863" spc="-18" strike="noStrike" u="none">
                <a:solidFill>
                  <a:srgbClr val="252E36"/>
                </a:solidFill>
                <a:latin typeface="Public Sans 1"/>
                <a:ea typeface="Public Sans 1"/>
                <a:cs typeface="Public Sans 1"/>
                <a:sym typeface="Public Sans 1"/>
              </a:rPr>
              <a:t>cała Warszawa, corocznie aktualizowana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64086" y="6428009"/>
            <a:ext cx="16559828" cy="1508614"/>
          </a:xfrm>
          <a:custGeom>
            <a:avLst/>
            <a:gdLst/>
            <a:ahLst/>
            <a:cxnLst/>
            <a:rect r="r" b="b" t="t" l="l"/>
            <a:pathLst>
              <a:path h="1508614" w="16559828">
                <a:moveTo>
                  <a:pt x="0" y="0"/>
                </a:moveTo>
                <a:lnTo>
                  <a:pt x="16559828" y="0"/>
                </a:lnTo>
                <a:lnTo>
                  <a:pt x="1655982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4086" y="6428009"/>
            <a:ext cx="1968804" cy="1508614"/>
          </a:xfrm>
          <a:custGeom>
            <a:avLst/>
            <a:gdLst/>
            <a:ahLst/>
            <a:cxnLst/>
            <a:rect r="r" b="b" t="t" l="l"/>
            <a:pathLst>
              <a:path h="1508614" w="196880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82842" y="6635716"/>
            <a:ext cx="1312536" cy="1300906"/>
          </a:xfrm>
          <a:custGeom>
            <a:avLst/>
            <a:gdLst/>
            <a:ahLst/>
            <a:cxnLst/>
            <a:rect r="r" b="b" t="t" l="l"/>
            <a:pathLst>
              <a:path h="1300906" w="131253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021088" y="6817131"/>
            <a:ext cx="11323191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5"/>
              </a:lnSpc>
              <a:spcBef>
                <a:spcPct val="0"/>
              </a:spcBef>
            </a:pPr>
            <a:r>
              <a:rPr lang="en-US" b="true" sz="2351" strike="noStrike" u="none">
                <a:solidFill>
                  <a:srgbClr val="252E3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Miasto publikuje otwartą warstwę TEMPERATURY ODCZUWALNEJ CHODNIKÓW CO 30 MINUT, z której mogą korzystać aplikacje mapowe.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864086" y="7925691"/>
            <a:ext cx="16559828" cy="1727254"/>
          </a:xfrm>
          <a:custGeom>
            <a:avLst/>
            <a:gdLst/>
            <a:ahLst/>
            <a:cxnLst/>
            <a:rect r="r" b="b" t="t" l="l"/>
            <a:pathLst>
              <a:path h="1727254" w="16559828">
                <a:moveTo>
                  <a:pt x="0" y="0"/>
                </a:moveTo>
                <a:lnTo>
                  <a:pt x="16559828" y="0"/>
                </a:lnTo>
                <a:lnTo>
                  <a:pt x="16559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01598" y="8352038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2797673" y="8271135"/>
            <a:ext cx="4196811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575" spc="25" strike="noStrike" u="none">
                <a:solidFill>
                  <a:srgbClr val="B84921"/>
                </a:solidFill>
                <a:latin typeface="Oswald Bold"/>
                <a:ea typeface="Oswald Bold"/>
                <a:cs typeface="Oswald Bold"/>
                <a:sym typeface="Oswald Bold"/>
              </a:rPr>
              <a:t>PROSIMY MIASTO O: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839641" y="8642599"/>
            <a:ext cx="13635633" cy="77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156"/>
              </a:lnSpc>
              <a:spcBef>
                <a:spcPct val="0"/>
              </a:spcBef>
            </a:pPr>
            <a:r>
              <a:rPr lang="en-US" sz="2254" strike="noStrike" u="none">
                <a:solidFill>
                  <a:srgbClr val="252E36"/>
                </a:solidFill>
                <a:latin typeface="Public Sans 1"/>
                <a:ea typeface="Public Sans 1"/>
                <a:cs typeface="Public Sans 1"/>
                <a:sym typeface="Public Sans 1"/>
              </a:rPr>
              <a:t>dostęp do danych o przepływach ludności (gdzie i kiedy chodzą piesi), aby obliczać dawkę ciepła przypadającą na osobę i wskazywać miejsca, w których upał najmocniej oddziałuje na mieszkańców.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77560" y="3916819"/>
            <a:ext cx="899168" cy="445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30"/>
              </a:lnSpc>
              <a:spcBef>
                <a:spcPct val="0"/>
              </a:spcBef>
            </a:pPr>
            <a:r>
              <a:rPr lang="en-US" b="true" sz="2487" spc="-24" strike="noStrike" u="none">
                <a:solidFill>
                  <a:srgbClr val="1D7F82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2028 –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252156" y="9673339"/>
            <a:ext cx="157520" cy="128024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1574"/>
              </a:lnSpc>
            </a:pPr>
            <a:r>
              <a:rPr lang="en-US" sz="1125" b="true">
                <a:solidFill>
                  <a:srgbClr val="8F9496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47196" y="2142670"/>
            <a:ext cx="6540804" cy="4503979"/>
          </a:xfrm>
          <a:custGeom>
            <a:avLst/>
            <a:gdLst/>
            <a:ahLst/>
            <a:cxnLst/>
            <a:rect r="r" b="b" t="t" l="l"/>
            <a:pathLst>
              <a:path h="4503979" w="6540804">
                <a:moveTo>
                  <a:pt x="0" y="0"/>
                </a:moveTo>
                <a:lnTo>
                  <a:pt x="6540804" y="0"/>
                </a:lnTo>
                <a:lnTo>
                  <a:pt x="6540804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842" y="852695"/>
            <a:ext cx="8061158" cy="9434305"/>
          </a:xfrm>
          <a:custGeom>
            <a:avLst/>
            <a:gdLst/>
            <a:ahLst/>
            <a:cxnLst/>
            <a:rect r="r" b="b" t="t" l="l"/>
            <a:pathLst>
              <a:path h="9434305" w="8061158">
                <a:moveTo>
                  <a:pt x="0" y="0"/>
                </a:moveTo>
                <a:lnTo>
                  <a:pt x="8061158" y="0"/>
                </a:lnTo>
                <a:lnTo>
                  <a:pt x="8061158" y="9434305"/>
                </a:lnTo>
                <a:lnTo>
                  <a:pt x="0" y="9434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64086" y="6495142"/>
            <a:ext cx="3245649" cy="3245649"/>
          </a:xfrm>
          <a:custGeom>
            <a:avLst/>
            <a:gdLst/>
            <a:ahLst/>
            <a:cxnLst/>
            <a:rect r="r" b="b" t="t" l="l"/>
            <a:pathLst>
              <a:path h="3245649" w="3245649">
                <a:moveTo>
                  <a:pt x="0" y="0"/>
                </a:moveTo>
                <a:lnTo>
                  <a:pt x="3245650" y="0"/>
                </a:lnTo>
                <a:lnTo>
                  <a:pt x="3245650" y="3245649"/>
                </a:lnTo>
                <a:lnTo>
                  <a:pt x="0" y="32456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4086" y="824120"/>
            <a:ext cx="5660498" cy="93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89804"/>
                  </a:srgbClr>
                </a:solidFill>
                <a:latin typeface="Oswald Bold"/>
                <a:ea typeface="Oswald Bold"/>
                <a:cs typeface="Oswald Bold"/>
                <a:sym typeface="Oswald Bold"/>
              </a:rPr>
              <a:t>Warszawa 2076: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4086" y="2072135"/>
            <a:ext cx="7862210" cy="307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19"/>
              </a:lnSpc>
              <a:spcBef>
                <a:spcPct val="0"/>
              </a:spcBef>
            </a:pPr>
            <a:r>
              <a:rPr lang="en-US" b="true" sz="4895" strike="noStrike" u="none">
                <a:solidFill>
                  <a:srgbClr val="FFFFFF">
                    <a:alpha val="89804"/>
                  </a:srgbClr>
                </a:solidFill>
                <a:latin typeface="Oswald Bold"/>
                <a:ea typeface="Oswald Bold"/>
                <a:cs typeface="Oswald Bold"/>
                <a:sym typeface="Oswald Bold"/>
              </a:rPr>
              <a:t>Nikt nie musi wybierać między dotarciem do lekarza a pozostaniem bezpiecznym podczas upału.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4086" y="5457825"/>
            <a:ext cx="9287281" cy="703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2"/>
              </a:lnSpc>
              <a:spcBef>
                <a:spcPct val="0"/>
              </a:spcBef>
            </a:pPr>
            <a:r>
              <a:rPr lang="en-US" b="true" sz="4585" strike="noStrike" u="none">
                <a:solidFill>
                  <a:srgbClr val="2F8488"/>
                </a:solidFill>
                <a:latin typeface="Oswald Bold"/>
                <a:ea typeface="Oswald Bold"/>
                <a:cs typeface="Oswald Bold"/>
                <a:sym typeface="Oswald Bold"/>
              </a:rPr>
              <a:t>Zacznijmy od pilotażu w Śródmieściu.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59153" y="7694739"/>
            <a:ext cx="4367689" cy="732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9"/>
              </a:lnSpc>
              <a:spcBef>
                <a:spcPct val="0"/>
              </a:spcBef>
            </a:pPr>
            <a:r>
              <a:rPr lang="en-US" sz="4599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Sprawdź w telefonie!</a:t>
            </a:r>
          </a:p>
        </p:txBody>
      </p:sp>
      <p:sp>
        <p:nvSpPr>
          <p:cNvPr name="AutoShape 10" id="10"/>
          <p:cNvSpPr/>
          <p:nvPr/>
        </p:nvSpPr>
        <p:spPr>
          <a:xfrm flipH="true">
            <a:off x="4298244" y="8117966"/>
            <a:ext cx="1372400" cy="0"/>
          </a:xfrm>
          <a:prstGeom prst="line">
            <a:avLst/>
          </a:prstGeom>
          <a:ln cap="flat" w="142875">
            <a:solidFill>
              <a:srgbClr val="FFFFFF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50" y="209550"/>
            <a:ext cx="885825" cy="10077450"/>
          </a:xfrm>
          <a:custGeom>
            <a:avLst/>
            <a:gdLst/>
            <a:ahLst/>
            <a:cxnLst/>
            <a:rect r="r" b="b" t="t" l="l"/>
            <a:pathLst>
              <a:path h="10077450" w="885825">
                <a:moveTo>
                  <a:pt x="0" y="0"/>
                </a:moveTo>
                <a:lnTo>
                  <a:pt x="885825" y="0"/>
                </a:lnTo>
                <a:lnTo>
                  <a:pt x="885825" y="10077450"/>
                </a:lnTo>
                <a:lnTo>
                  <a:pt x="0" y="10077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2146" y="721926"/>
            <a:ext cx="5510358" cy="2200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9"/>
              </a:lnSpc>
            </a:pPr>
            <a:r>
              <a:rPr lang="en-US" sz="5075" spc="-49" b="true">
                <a:solidFill>
                  <a:srgbClr val="F6F6F6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Świat już prowadzi pieszych cieniem.</a:t>
            </a:r>
          </a:p>
          <a:p>
            <a:pPr algn="l">
              <a:lnSpc>
                <a:spcPts val="5839"/>
              </a:lnSpc>
            </a:pPr>
            <a:r>
              <a:rPr lang="en-US" sz="5075" spc="-49" b="true">
                <a:solidFill>
                  <a:srgbClr val="F16728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Warszawa jeszcze nie.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0318" y="3296097"/>
            <a:ext cx="6693221" cy="62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Piesi sami szukają cienia: odcinek w słońcu wydaje się średnio</a:t>
            </a:r>
          </a:p>
          <a:p>
            <a:pPr algn="l">
              <a:lnSpc>
                <a:spcPts val="2457"/>
              </a:lnSpc>
            </a:pPr>
            <a:r>
              <a:rPr lang="en-US" sz="2047" spc="-19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 </a:t>
            </a:r>
            <a:r>
              <a:rPr lang="en-US" sz="2047" spc="-19" b="true">
                <a:solidFill>
                  <a:srgbClr val="F167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16% dłuższy</a:t>
            </a:r>
            <a:r>
              <a:rPr lang="en-US" sz="2047" spc="-19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niż ten sam w cieniu (Singapur, Melnikov i in. 2022).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7700" y="4067175"/>
            <a:ext cx="5448300" cy="4076700"/>
          </a:xfrm>
          <a:custGeom>
            <a:avLst/>
            <a:gdLst/>
            <a:ahLst/>
            <a:cxnLst/>
            <a:rect r="r" b="b" t="t" l="l"/>
            <a:pathLst>
              <a:path h="4076700" w="5448300">
                <a:moveTo>
                  <a:pt x="0" y="0"/>
                </a:moveTo>
                <a:lnTo>
                  <a:pt x="5448300" y="0"/>
                </a:lnTo>
                <a:lnTo>
                  <a:pt x="544830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6775" y="449580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66775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20270" y="6057677"/>
            <a:ext cx="4413658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cień z budynków i drzew, otwarte oprogramowanie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6775" y="6858000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9424" y="7208453"/>
            <a:ext cx="4498258" cy="545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784" spc="-17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liczy nasłonecznienie, nie temperaturę odczuwalną;</a:t>
            </a:r>
          </a:p>
          <a:p>
            <a:pPr algn="l">
              <a:lnSpc>
                <a:spcPts val="2141"/>
              </a:lnSpc>
            </a:pPr>
            <a:r>
              <a:rPr lang="en-US" sz="1784" spc="-17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bez komunikacji miejskiej.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6000" y="4067175"/>
            <a:ext cx="5667375" cy="4076700"/>
          </a:xfrm>
          <a:custGeom>
            <a:avLst/>
            <a:gdLst/>
            <a:ahLst/>
            <a:cxnLst/>
            <a:rect r="r" b="b" t="t" l="l"/>
            <a:pathLst>
              <a:path h="4076700" w="5667375">
                <a:moveTo>
                  <a:pt x="0" y="0"/>
                </a:moveTo>
                <a:lnTo>
                  <a:pt x="5667375" y="0"/>
                </a:lnTo>
                <a:lnTo>
                  <a:pt x="566737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305550" y="4495800"/>
            <a:ext cx="885825" cy="866775"/>
          </a:xfrm>
          <a:custGeom>
            <a:avLst/>
            <a:gdLst/>
            <a:ahLst/>
            <a:cxnLst/>
            <a:rect r="r" b="b" t="t" l="l"/>
            <a:pathLst>
              <a:path h="866775" w="885825">
                <a:moveTo>
                  <a:pt x="0" y="0"/>
                </a:moveTo>
                <a:lnTo>
                  <a:pt x="885825" y="0"/>
                </a:lnTo>
                <a:lnTo>
                  <a:pt x="8858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305550" y="5572125"/>
            <a:ext cx="447675" cy="428625"/>
          </a:xfrm>
          <a:custGeom>
            <a:avLst/>
            <a:gdLst/>
            <a:ahLst/>
            <a:cxnLst/>
            <a:rect r="r" b="b" t="t" l="l"/>
            <a:pathLst>
              <a:path h="428625" w="447675">
                <a:moveTo>
                  <a:pt x="0" y="0"/>
                </a:moveTo>
                <a:lnTo>
                  <a:pt x="447675" y="0"/>
                </a:lnTo>
                <a:lnTo>
                  <a:pt x="44767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491528" y="6048151"/>
            <a:ext cx="4500286" cy="813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1"/>
              </a:lnSpc>
            </a:pPr>
            <a:r>
              <a:rPr lang="en-US" sz="1784" spc="-17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temperaturę promieniowania z budynków i drzew;</a:t>
            </a:r>
          </a:p>
          <a:p>
            <a:pPr algn="l">
              <a:lnSpc>
                <a:spcPts val="2141"/>
              </a:lnSpc>
            </a:pPr>
            <a:r>
              <a:rPr lang="en-US" sz="1784" spc="-17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dla ponad 70% tras znajduje chłodniejszą drogę,</a:t>
            </a:r>
          </a:p>
          <a:p>
            <a:pPr algn="l">
              <a:lnSpc>
                <a:spcPts val="2141"/>
              </a:lnSpc>
            </a:pPr>
            <a:r>
              <a:rPr lang="en-US" sz="1784" spc="-17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zwyle krótszą niż przeciełtna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05550" y="7067550"/>
            <a:ext cx="447675" cy="438150"/>
          </a:xfrm>
          <a:custGeom>
            <a:avLst/>
            <a:gdLst/>
            <a:ahLst/>
            <a:cxnLst/>
            <a:rect r="r" b="b" t="t" l="l"/>
            <a:pathLst>
              <a:path h="438150" w="447675">
                <a:moveTo>
                  <a:pt x="0" y="0"/>
                </a:moveTo>
                <a:lnTo>
                  <a:pt x="447675" y="0"/>
                </a:lnTo>
                <a:lnTo>
                  <a:pt x="44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753850" y="4067175"/>
            <a:ext cx="5886450" cy="4076700"/>
          </a:xfrm>
          <a:custGeom>
            <a:avLst/>
            <a:gdLst/>
            <a:ahLst/>
            <a:cxnLst/>
            <a:rect r="r" b="b" t="t" l="l"/>
            <a:pathLst>
              <a:path h="4076700" w="5886450">
                <a:moveTo>
                  <a:pt x="0" y="0"/>
                </a:moveTo>
                <a:lnTo>
                  <a:pt x="5886450" y="0"/>
                </a:lnTo>
                <a:lnTo>
                  <a:pt x="5886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972925" y="4495800"/>
            <a:ext cx="876300" cy="866775"/>
          </a:xfrm>
          <a:custGeom>
            <a:avLst/>
            <a:gdLst/>
            <a:ahLst/>
            <a:cxnLst/>
            <a:rect r="r" b="b" t="t" l="l"/>
            <a:pathLst>
              <a:path h="866775" w="876300">
                <a:moveTo>
                  <a:pt x="0" y="0"/>
                </a:moveTo>
                <a:lnTo>
                  <a:pt x="876300" y="0"/>
                </a:lnTo>
                <a:lnTo>
                  <a:pt x="876300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972925" y="5572125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140433" y="6057677"/>
            <a:ext cx="2180103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cień z samych budynków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972925" y="6858000"/>
            <a:ext cx="438150" cy="428625"/>
          </a:xfrm>
          <a:custGeom>
            <a:avLst/>
            <a:gdLst/>
            <a:ahLst/>
            <a:cxnLst/>
            <a:rect r="r" b="b" t="t" l="l"/>
            <a:pathLst>
              <a:path h="428625" w="438150">
                <a:moveTo>
                  <a:pt x="0" y="0"/>
                </a:moveTo>
                <a:lnTo>
                  <a:pt x="438150" y="0"/>
                </a:lnTo>
                <a:lnTo>
                  <a:pt x="43815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416782" y="6886463"/>
            <a:ext cx="1334334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F167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Czego brakuje: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2704" y="7208453"/>
            <a:ext cx="3953082" cy="545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spc="-18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drzew; wniosek: zysk zależy od układu ulic</a:t>
            </a:r>
          </a:p>
          <a:p>
            <a:pPr algn="l">
              <a:lnSpc>
                <a:spcPts val="2236"/>
              </a:lnSpc>
            </a:pPr>
            <a:r>
              <a:rPr lang="en-US" sz="1863" spc="-18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 wysokości zabudowy.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47700" y="8143875"/>
            <a:ext cx="16992600" cy="1504950"/>
          </a:xfrm>
          <a:custGeom>
            <a:avLst/>
            <a:gdLst/>
            <a:ahLst/>
            <a:cxnLst/>
            <a:rect r="r" b="b" t="t" l="l"/>
            <a:pathLst>
              <a:path h="1504950" w="16992600">
                <a:moveTo>
                  <a:pt x="0" y="0"/>
                </a:moveTo>
                <a:lnTo>
                  <a:pt x="16992600" y="0"/>
                </a:lnTo>
                <a:lnTo>
                  <a:pt x="16992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66775" y="8353425"/>
            <a:ext cx="1095375" cy="1076325"/>
          </a:xfrm>
          <a:custGeom>
            <a:avLst/>
            <a:gdLst/>
            <a:ahLst/>
            <a:cxnLst/>
            <a:rect r="r" b="b" t="t" l="l"/>
            <a:pathLst>
              <a:path h="1076325" w="1095375">
                <a:moveTo>
                  <a:pt x="0" y="0"/>
                </a:moveTo>
                <a:lnTo>
                  <a:pt x="1095375" y="0"/>
                </a:lnTo>
                <a:lnTo>
                  <a:pt x="1095375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33051" y="8519443"/>
            <a:ext cx="11007414" cy="68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10848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Scorch Score: </a:t>
            </a:r>
            <a:r>
              <a:rPr lang="en-US" sz="2311" spc="-22" b="true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temperatura odczuwalna UTCI zamiast samego cienia •</a:t>
            </a:r>
          </a:p>
          <a:p>
            <a:pPr algn="l">
              <a:lnSpc>
                <a:spcPts val="2774"/>
              </a:lnSpc>
            </a:pPr>
            <a:r>
              <a:rPr lang="en-US" sz="2311" spc="-22" b="true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dawka ciepła z całej podróży, także w klimatyzowanym tramwaju • drzewa z LiDAR • Warszawa.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59836" y="4621662"/>
            <a:ext cx="4500562" cy="3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21" b="true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Cool Routes – Arizona State University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821656" y="4621662"/>
            <a:ext cx="4500562" cy="3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21" b="true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shaded.ors – HeiGIT, Heidelberg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6354" y="9785226"/>
            <a:ext cx="6695086" cy="170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 spc="-10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Melnikov i in., Sci Rap 2022; HeiGIT 2026; Middel i in., Building and Environment 2026; Wolf, Vers, Szek, atXiv 2405.01225.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965906" y="4621662"/>
            <a:ext cx="4500562" cy="330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spc="-21" b="true">
                <a:solidFill>
                  <a:srgbClr val="F6F6F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CoolWalks – ITU Kopenhagen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514348" y="7504286"/>
            <a:ext cx="2218331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działa tylko na kampusie.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941958" y="5038539"/>
            <a:ext cx="2394865" cy="22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14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Manhattan, Barcelona, Valencia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99758" y="5038539"/>
            <a:ext cx="2189792" cy="22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14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Heidelberg i Worms, od 2024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41818" y="5038539"/>
            <a:ext cx="1801811" cy="22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spc="-14">
                <a:solidFill>
                  <a:srgbClr val="F6F6F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kampus w Tempe, 2026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99321" y="6886463"/>
            <a:ext cx="1334334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F167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Czego brakuje: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10711" y="7217978"/>
            <a:ext cx="1334334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10848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Czego brakuje: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16435" y="5756300"/>
            <a:ext cx="761967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10848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 liczy: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422505" y="5756300"/>
            <a:ext cx="761967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10848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 liczy: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5044" y="5756300"/>
            <a:ext cx="761967" cy="249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F1672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 liczy: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940" y="545109"/>
            <a:ext cx="7294328" cy="68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5277" b="true">
                <a:solidFill>
                  <a:srgbClr val="252E33"/>
                </a:solidFill>
                <a:latin typeface="Oswald Bold"/>
                <a:ea typeface="Oswald Bold"/>
                <a:cs typeface="Oswald Bold"/>
                <a:sym typeface="Oswald Bold"/>
              </a:rPr>
              <a:t>BIBLIOGRAFIA ZAPASOWA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4475" y="1881167"/>
            <a:ext cx="5718132" cy="142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Janoš T. i in. (2025). Śmiertelność związana z upałami w Europie w 2024 r. oraz prognozowanie zagrożeń zdrowotnych w celu ograniczenia możliwych do uniknięcia zgonów. Nature Medicine.</a:t>
            </a:r>
          </a:p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doi:10.1038/s41591-025-03954-7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5809" y="3328978"/>
            <a:ext cx="465170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0055" y="3266765"/>
            <a:ext cx="6160130" cy="85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Melnikov V.R. i in. (2022). Behawioralna termoregulacja wyjaśnia wybór tras pieszych w gorącym środowisku miejskim. Scientific Reports 12, 2441.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5809" y="4428419"/>
            <a:ext cx="465170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57922" y="4396328"/>
            <a:ext cx="6373425" cy="142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Lindberg F., Holmer B., Thorsson S. (2008), SOLWEIG 1.0 – modelowanie przestrzennych zróżnicowań trójwymiarowych strumieni promieniowania i średniej temperatury promieniowania w złożonych warunkach miejskich.</a:t>
            </a:r>
          </a:p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Int J Biometeorol 52, 697–713.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5766" y="5829078"/>
            <a:ext cx="469542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8405" y="5721682"/>
            <a:ext cx="6325115" cy="85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Brôde P. i in. (2012). Opracowanie procedury operacyjnej dla Universal Thermal Climate Index (UTCI).</a:t>
            </a:r>
          </a:p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Int J Biometeorol 56, 481–494.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5831" y="6838154"/>
            <a:ext cx="462984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6614" y="6791001"/>
            <a:ext cx="5504260" cy="852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Tartarini F., Schiavon S. (2020), pythermalcomfort:</a:t>
            </a:r>
          </a:p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pakiet Pythona do badań nad komfortem cieplnym.</a:t>
            </a:r>
          </a:p>
          <a:p>
            <a:pPr algn="l" marL="0" indent="0" lvl="0">
              <a:lnSpc>
                <a:spcPts val="2353"/>
              </a:lnSpc>
              <a:spcBef>
                <a:spcPct val="0"/>
              </a:spcBef>
            </a:pPr>
            <a:r>
              <a:rPr lang="en-US" b="true" sz="1810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SoftwareX 12.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5704" y="7907474"/>
            <a:ext cx="475663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61085" y="7875382"/>
            <a:ext cx="6057133" cy="567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17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m.st. Warszawa. Strategia adaptacji do zmian klimatu</a:t>
            </a:r>
          </a:p>
          <a:p>
            <a:pPr algn="l">
              <a:lnSpc>
                <a:spcPts val="2353"/>
              </a:lnSpc>
            </a:pPr>
            <a:r>
              <a:rPr lang="en-US" sz="1810" spc="-17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dla m.st. Warszawy do 2030 r. z perspektywą do 2050 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1857" y="1977092"/>
            <a:ext cx="5945548" cy="27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4"/>
              </a:lnSpc>
            </a:pPr>
            <a:r>
              <a:rPr lang="en-US" sz="1696" spc="-16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m.st. Warszawa. Warszawskie Badanie Ruchu 2024–2025.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12591" y="2937396"/>
            <a:ext cx="468231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41851" y="2895870"/>
            <a:ext cx="5946132" cy="577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784" spc="-17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Brennek M., Instytut Geofizyki PAN (2026). Klimatyczne podsumowanie lata 2026 (dane IMGW-PIB).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12517" y="4082020"/>
            <a:ext cx="475663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09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1860" y="4040440"/>
            <a:ext cx="5945225" cy="862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9"/>
              </a:lnSpc>
              <a:spcBef>
                <a:spcPct val="0"/>
              </a:spcBef>
            </a:pPr>
            <a:r>
              <a:rPr lang="en-US" b="true" sz="1784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Klimatyczna Warszawa (2024, 2026). Raporty sezonowe: lato 2024 i lato 2026, stacja Warszawa–Okęcie</a:t>
            </a:r>
          </a:p>
          <a:p>
            <a:pPr algn="l" marL="0" indent="0" lvl="0">
              <a:lnSpc>
                <a:spcPts val="2319"/>
              </a:lnSpc>
              <a:spcBef>
                <a:spcPct val="0"/>
              </a:spcBef>
            </a:pPr>
            <a:r>
              <a:rPr lang="en-US" b="true" sz="1784" spc="-17" strike="noStrike" u="non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(dane IMGW-PIB).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50117" y="5460293"/>
            <a:ext cx="5119589" cy="759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HeiGIT (2026), ORS Shaded /</a:t>
            </a:r>
          </a:p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shaded.openrouteservice.org – punkt odniesienia</a:t>
            </a:r>
          </a:p>
          <a:p>
            <a:pPr algn="l">
              <a:lnSpc>
                <a:spcPts val="2088"/>
              </a:lnSpc>
            </a:pPr>
            <a:r>
              <a:rPr lang="en-US" sz="1740" spc="-16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w porównaniu tras.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13872" y="6853215"/>
            <a:ext cx="340134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11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44850" y="6821124"/>
            <a:ext cx="5646226" cy="1424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3"/>
              </a:lnSpc>
            </a:pPr>
            <a:r>
              <a:rPr lang="en-US" sz="1810" spc="-17" b="true">
                <a:solidFill>
                  <a:srgbClr val="5B626D"/>
                </a:solidFill>
                <a:latin typeface="Public Sans 1 Medium"/>
                <a:ea typeface="Public Sans 1 Medium"/>
                <a:cs typeface="Public Sans 1 Medium"/>
                <a:sym typeface="Public Sans 1 Medium"/>
              </a:rPr>
              <a:t>Dane: GUGiK (LiDAR), api.um.warszawa.pl (pozycje pojazdów, inwentaryzacja drzew, toalety publiczne), ZTM GTFS, IMGW, ERA5 (Copernicus), Landsat 8/9 (USGS), Sentinel-2 (Copernicus), OpenStreetMap (ODbL), UMEP SOLWEIG, Google Routes API.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12950" y="1898198"/>
            <a:ext cx="432381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6356" y="1898198"/>
            <a:ext cx="410522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13168" y="5482678"/>
            <a:ext cx="410522" cy="43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4"/>
              </a:lnSpc>
            </a:pPr>
            <a:r>
              <a:rPr lang="en-US" sz="3304" b="true">
                <a:solidFill>
                  <a:srgbClr val="B54820"/>
                </a:solidFill>
                <a:latin typeface="Oswald Bold"/>
                <a:ea typeface="Oswald Bold"/>
                <a:cs typeface="Oswald Bold"/>
                <a:sym typeface="Oswald Bold"/>
              </a:rPr>
              <a:t>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252156" y="9584963"/>
            <a:ext cx="139530" cy="361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62"/>
              </a:lnSpc>
            </a:pPr>
            <a:r>
              <a:rPr lang="en-US" sz="1125" spc="-10">
                <a:solidFill>
                  <a:srgbClr val="5B626D"/>
                </a:solidFill>
                <a:latin typeface="Public Sans 1"/>
                <a:ea typeface="Public Sans 1"/>
                <a:cs typeface="Public Sans 1"/>
                <a:sym typeface="Public Sans 1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DAHYUaH5A0k</dc:identifier>
  <dcterms:modified xsi:type="dcterms:W3CDTF">2011-08-01T06:04:30Z</dcterms:modified>
  <cp:revision>1</cp:revision>
  <dc:title>Prezentacja pitchowa Scorch Score</dc:title>
</cp:coreProperties>
</file>